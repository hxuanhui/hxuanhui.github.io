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</p:embeddedFont>
    <p:embeddedFont>
      <p:font typeface="Lato Bold" panose="020F0502020204030203" charset="0"/>
      <p:bold r:id="rId19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2F0166-80D3-4A63-BEE2-FF393CFD3EB2}" v="2" dt="2025-12-09T06:29:42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0437" autoAdjust="0"/>
  </p:normalViewPr>
  <p:slideViewPr>
    <p:cSldViewPr snapToGrid="0" snapToObjects="1">
      <p:cViewPr varScale="1">
        <p:scale>
          <a:sx n="46" d="100"/>
          <a:sy n="46" d="100"/>
        </p:scale>
        <p:origin x="6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暄惠" userId="d5d15662-9c88-4d79-9af8-89639c2cd128" providerId="ADAL" clId="{6FA9E35D-CB50-4194-82DB-40C7C6BD4235}"/>
    <pc:docChg chg="addSld modSld">
      <pc:chgData name="黃暄惠" userId="d5d15662-9c88-4d79-9af8-89639c2cd128" providerId="ADAL" clId="{6FA9E35D-CB50-4194-82DB-40C7C6BD4235}" dt="2025-12-09T06:29:42.563" v="2"/>
      <pc:docMkLst>
        <pc:docMk/>
      </pc:docMkLst>
      <pc:sldChg chg="modNotesTx">
        <pc:chgData name="黃暄惠" userId="d5d15662-9c88-4d79-9af8-89639c2cd128" providerId="ADAL" clId="{6FA9E35D-CB50-4194-82DB-40C7C6BD4235}" dt="2025-12-09T06:19:13.617" v="1" actId="20577"/>
        <pc:sldMkLst>
          <pc:docMk/>
          <pc:sldMk cId="0" sldId="257"/>
        </pc:sldMkLst>
      </pc:sldChg>
      <pc:sldChg chg="add">
        <pc:chgData name="黃暄惠" userId="d5d15662-9c88-4d79-9af8-89639c2cd128" providerId="ADAL" clId="{6FA9E35D-CB50-4194-82DB-40C7C6BD4235}" dt="2025-12-09T06:29:42.563" v="2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668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OWASP Top 10 </a:t>
            </a:r>
            <a:r>
              <a:rPr lang="zh-TW" altLang="en-US" dirty="0"/>
              <a:t>是每 </a:t>
            </a:r>
            <a:r>
              <a:rPr lang="en-US" altLang="zh-TW" dirty="0"/>
              <a:t>3 </a:t>
            </a:r>
            <a:r>
              <a:rPr lang="zh-TW" altLang="en-US" dirty="0"/>
              <a:t>到 </a:t>
            </a:r>
            <a:r>
              <a:rPr lang="en-US" altLang="zh-TW" dirty="0"/>
              <a:t>4 </a:t>
            </a:r>
            <a:r>
              <a:rPr lang="zh-TW" altLang="en-US" dirty="0"/>
              <a:t>年更新一次的全球產業標準，並非年度報告。 目前 </a:t>
            </a:r>
            <a:r>
              <a:rPr lang="en-US" altLang="zh-TW" dirty="0"/>
              <a:t>2021 </a:t>
            </a:r>
            <a:r>
              <a:rPr lang="zh-TW" altLang="en-US" dirty="0"/>
              <a:t>版本仍是業界公認的最新核心標準。 不過，針對我們系統中較新的技術（如 </a:t>
            </a:r>
            <a:r>
              <a:rPr lang="en-US" altLang="zh-TW" dirty="0"/>
              <a:t>API </a:t>
            </a:r>
            <a:r>
              <a:rPr lang="zh-TW" altLang="en-US" dirty="0"/>
              <a:t>串接），我也會參考較新的 </a:t>
            </a:r>
            <a:r>
              <a:rPr lang="en-US" altLang="zh-TW" dirty="0"/>
              <a:t>OWASP API Security Top 10 (2023) </a:t>
            </a:r>
            <a:r>
              <a:rPr lang="zh-TW" altLang="en-US" dirty="0"/>
              <a:t>來做補充防禦。</a:t>
            </a:r>
            <a:endParaRPr lang="en-US" altLang="zh-TW" dirty="0"/>
          </a:p>
          <a:p>
            <a:r>
              <a:rPr lang="en-US" altLang="zh-TW" b="1" dirty="0"/>
              <a:t>OWASP API Security Top 10 (2023)</a:t>
            </a:r>
            <a:r>
              <a:rPr lang="zh-TW" altLang="en-US" b="1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專門針對 </a:t>
            </a:r>
            <a:r>
              <a:rPr lang="en-US" altLang="zh-TW" dirty="0"/>
              <a:t>API </a:t>
            </a:r>
            <a:r>
              <a:rPr lang="zh-TW" altLang="en-US" dirty="0"/>
              <a:t>的漏洞（這是目前最新的熱點）。</a:t>
            </a:r>
          </a:p>
          <a:p>
            <a:r>
              <a:rPr lang="en-US" altLang="zh-TW" b="1" dirty="0"/>
              <a:t>OWASP Top 10 for LLM (2023/2025)</a:t>
            </a:r>
            <a:r>
              <a:rPr lang="zh-TW" altLang="en-US" b="1" dirty="0"/>
              <a:t>：</a:t>
            </a:r>
            <a:r>
              <a:rPr lang="en-US" altLang="zh-TW" dirty="0"/>
              <a:t> </a:t>
            </a:r>
            <a:r>
              <a:rPr lang="zh-TW" altLang="en-US" dirty="0"/>
              <a:t>專門針對 </a:t>
            </a:r>
            <a:r>
              <a:rPr lang="en-US" altLang="zh-TW" dirty="0"/>
              <a:t>AI/ChatGPT </a:t>
            </a:r>
            <a:r>
              <a:rPr lang="zh-TW" altLang="en-US" dirty="0"/>
              <a:t>應用的漏洞（</a:t>
            </a:r>
            <a:r>
              <a:rPr lang="en-US" altLang="zh-TW" dirty="0"/>
              <a:t>Prompt Injection </a:t>
            </a:r>
            <a:r>
              <a:rPr lang="zh-TW" altLang="en-US" dirty="0"/>
              <a:t>等）。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3190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小白做一個登入網站會遇到的資安問題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40185"/>
            <a:ext cx="43122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從 OWASP Top 10 到實戰防禦指南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0346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一份給初階開發者的資安教育訓練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385" y="675442"/>
            <a:ext cx="5641657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認識資安聖經 OWASP Top 10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6385" y="1563410"/>
            <a:ext cx="13417629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OWASP (Open Web Application Security Project) 是全球公認的網站應用程式資安標準。每幾年更新一次的 Top 10 清單,匯集了最嚴重且最常見的資安風險。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6385" y="2035493"/>
            <a:ext cx="13417629" cy="5518547"/>
          </a:xfrm>
          <a:prstGeom prst="roundRect">
            <a:avLst>
              <a:gd name="adj" fmla="val 4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14005" y="2043113"/>
            <a:ext cx="13402389" cy="500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7479" y="2154674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編號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31457" y="2154674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風險名稱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62449" y="2154674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說明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4005" y="2543413"/>
            <a:ext cx="13402389" cy="500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87479" y="2654975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131457" y="2654975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Broken Access Control (失效的存取控制)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62449" y="2654975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越權存取，如一般會員看到管理員頁面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4005" y="3043714"/>
            <a:ext cx="13402389" cy="500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87479" y="3155275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131457" y="3155275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Cryptographic Failures (加密機制失效)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62449" y="3155275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資料未加密、使用弱密碼學演算法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4005" y="3544014"/>
            <a:ext cx="13402389" cy="500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87479" y="3655576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131457" y="3655576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Injection (注入攻擊)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62449" y="3655576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 Injection, XSS 等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4005" y="4044315"/>
            <a:ext cx="13402389" cy="500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87479" y="4155877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131457" y="4155877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Insecure Design (不安全設計)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62449" y="4155877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指在架構設計階段就沒考慮資安，例如沒有設計「抗機器人機制」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4005" y="4544616"/>
            <a:ext cx="13402389" cy="500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87479" y="4656177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131457" y="4656177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Misconfiguration (安全性設定錯誤)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162449" y="4656177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伺服器設定錯誤、未更新的軟體漏洞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4005" y="5044916"/>
            <a:ext cx="13402389" cy="500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87479" y="5156478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A06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2131457" y="5156478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Vulnerable and Outdated Components (有漏洞及過時的元件)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162449" y="5156478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使用了有漏洞的第三方套件（例如舊版的 jQuery 或 Log4j）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4005" y="5545217"/>
            <a:ext cx="13402389" cy="500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787479" y="5656778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A07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131457" y="5656778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Identification and Authentication Failures (身分驗證及識別失敗)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162449" y="5656778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密碼太簡單、沒有雙因子驗證 (2FA)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4005" y="6045518"/>
            <a:ext cx="13402389" cy="500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87479" y="6157079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A08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131457" y="6157079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Software and Data Integrity Failures (軟體及資料完整性錯誤)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162449" y="6157079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如更新檔被竄改、CI/CD 流程不安全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14005" y="6545818"/>
            <a:ext cx="13402389" cy="50030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787479" y="6657380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A09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2131457" y="6657380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Logging and Monitoring Failures (安全紀錄及監控失敗)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162449" y="6657380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被駭客攻擊了卻完全沒有 Log 紀錄，或者沒人發現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14005" y="7046119"/>
            <a:ext cx="13402389" cy="50030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787479" y="7157680"/>
            <a:ext cx="989886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A10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2131457" y="7157680"/>
            <a:ext cx="567690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Server-Side Request Forgery (SSRF) (伺服器端請求偽造)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162449" y="7157680"/>
            <a:ext cx="5680710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駭客騙伺服器去存取內部網路的資料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042" y="562570"/>
            <a:ext cx="8397121" cy="639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你的「小問題」對應哪個「大風險」?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6042" y="1611035"/>
            <a:ext cx="13198316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新手開發者常犯的錯誤,往往直接對應到 OWASP 定義的嚴重漏洞。以下是常見的風險映射關係: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6042" y="2168366"/>
            <a:ext cx="4263033" cy="2635448"/>
          </a:xfrm>
          <a:prstGeom prst="roundRect">
            <a:avLst>
              <a:gd name="adj" fmla="val 1164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8902" y="2191226"/>
            <a:ext cx="4217313" cy="613648"/>
          </a:xfrm>
          <a:prstGeom prst="roundRect">
            <a:avLst>
              <a:gd name="adj" fmla="val 531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4146" y="2344579"/>
            <a:ext cx="306824" cy="3068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3451" y="3009424"/>
            <a:ext cx="2557224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A01 失效的存取控制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3451" y="3451741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URL 參數直接傳遞身分資訊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3451" y="3850481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權限繞過與 IDOR 漏洞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3451" y="4249222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未驗證使用者授權範圍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83624" y="2168366"/>
            <a:ext cx="4263033" cy="2635448"/>
          </a:xfrm>
          <a:prstGeom prst="roundRect">
            <a:avLst>
              <a:gd name="adj" fmla="val 1164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5206484" y="2191226"/>
            <a:ext cx="4217313" cy="613648"/>
          </a:xfrm>
          <a:prstGeom prst="roundRect">
            <a:avLst>
              <a:gd name="adj" fmla="val 531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1728" y="2344579"/>
            <a:ext cx="306824" cy="3068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1033" y="3009424"/>
            <a:ext cx="2557224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A02 加密機制失效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11033" y="3451741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 HTTP 而非 HTTPS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411033" y="3850481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敏感資料在 URL 中暴露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11033" y="4249222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密碼未加密或使用弱演算法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9651206" y="2168366"/>
            <a:ext cx="4263033" cy="2635448"/>
          </a:xfrm>
          <a:prstGeom prst="roundRect">
            <a:avLst>
              <a:gd name="adj" fmla="val 1164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5"/>
          <p:cNvSpPr/>
          <p:nvPr/>
        </p:nvSpPr>
        <p:spPr>
          <a:xfrm>
            <a:off x="9674066" y="2191226"/>
            <a:ext cx="4217313" cy="613648"/>
          </a:xfrm>
          <a:prstGeom prst="roundRect">
            <a:avLst>
              <a:gd name="adj" fmla="val 531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29311" y="2344579"/>
            <a:ext cx="306824" cy="3068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78616" y="3009424"/>
            <a:ext cx="2557224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A03 注入攻擊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878616" y="3451741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SQL Injection (字串拼接查詢)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878616" y="3850481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XSS 跨站腳本攻擊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878616" y="4249222"/>
            <a:ext cx="380821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未驗證使用者輸入內容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16042" y="5033963"/>
            <a:ext cx="6496883" cy="2635448"/>
          </a:xfrm>
          <a:prstGeom prst="roundRect">
            <a:avLst>
              <a:gd name="adj" fmla="val 1164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1"/>
          <p:cNvSpPr/>
          <p:nvPr/>
        </p:nvSpPr>
        <p:spPr>
          <a:xfrm>
            <a:off x="738902" y="5056823"/>
            <a:ext cx="6451163" cy="613648"/>
          </a:xfrm>
          <a:prstGeom prst="roundRect">
            <a:avLst>
              <a:gd name="adj" fmla="val 531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11072" y="5210175"/>
            <a:ext cx="306824" cy="3068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3451" y="5875020"/>
            <a:ext cx="2557224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A05 安全性設定錯誤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43451" y="6317337"/>
            <a:ext cx="6042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CORS 設定過於寬鬆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43451" y="6716078"/>
            <a:ext cx="6042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錯誤訊息洩漏系統資訊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43451" y="7114818"/>
            <a:ext cx="6042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預設帳號密碼未更改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417475" y="5033963"/>
            <a:ext cx="6496883" cy="2635448"/>
          </a:xfrm>
          <a:prstGeom prst="roundRect">
            <a:avLst>
              <a:gd name="adj" fmla="val 1164"/>
            </a:avLst>
          </a:prstGeom>
          <a:solidFill>
            <a:srgbClr val="EFECE6"/>
          </a:solidFill>
          <a:ln w="2286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27"/>
          <p:cNvSpPr/>
          <p:nvPr/>
        </p:nvSpPr>
        <p:spPr>
          <a:xfrm>
            <a:off x="7440335" y="5056823"/>
            <a:ext cx="6451163" cy="613648"/>
          </a:xfrm>
          <a:prstGeom prst="roundRect">
            <a:avLst>
              <a:gd name="adj" fmla="val 531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12504" y="5210175"/>
            <a:ext cx="306824" cy="3068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644884" y="5875020"/>
            <a:ext cx="2557224" cy="319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A07 身分驗證失效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7644884" y="6317337"/>
            <a:ext cx="6042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無登入次數限制(暴力破解)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7644884" y="6716078"/>
            <a:ext cx="6042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Cookie 缺少安全屬性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7644884" y="7114818"/>
            <a:ext cx="6042065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Session 管理機制不當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875" y="559356"/>
            <a:ext cx="6609278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資安風險在開發流程中的埋伏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1875" y="1601629"/>
            <a:ext cx="13206651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從使用者輸入帳密到網站上線,每個環節都可能成為駭客的突破口。讓我們追蹤完整的登入流程: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75" y="2155746"/>
            <a:ext cx="4402217" cy="8135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5233" y="3172658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登入畫面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5233" y="3612594"/>
            <a:ext cx="399549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風險: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SQL Injection 注入攻擊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5233" y="4059912"/>
            <a:ext cx="399549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使用者輸入的帳號密碼若未經驗證,可能被用來執行惡意 SQL 指令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092" y="2155746"/>
            <a:ext cx="4402217" cy="8135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17450" y="3172658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驗證邏輯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317450" y="3612594"/>
            <a:ext cx="399549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風險: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暴力破解、錯誤訊息洩漏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317450" y="4059912"/>
            <a:ext cx="399549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缺乏速率限制與過於詳細的錯誤訊息,讓駭客能夠窮舉帳號密碼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6308" y="2155746"/>
            <a:ext cx="4402217" cy="8135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9667" y="3172658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登入成功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719667" y="3612594"/>
            <a:ext cx="399549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風險: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Cookie 設定不當、資料儲存位置錯誤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719667" y="4059912"/>
            <a:ext cx="399549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將敏感資訊存放在前端或使用不安全的 Cookie 屬性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875" y="4913828"/>
            <a:ext cx="4402217" cy="8135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5233" y="5930741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操作分頁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15233" y="6370677"/>
            <a:ext cx="399549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風險: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URL 參數傳遞敏感資料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15233" y="6817995"/>
            <a:ext cx="399549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透過網址傳遞使用者資訊,容易被竄改或留下歷史紀錄</a:t>
            </a:r>
            <a:endParaRPr lang="en-US" sz="16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4092" y="4913828"/>
            <a:ext cx="4402217" cy="81355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17450" y="5930741"/>
            <a:ext cx="254269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網站上架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5317450" y="6370677"/>
            <a:ext cx="3995499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風險:</a:t>
            </a: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HTTPS、CORS、Clickjacking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317450" y="6817995"/>
            <a:ext cx="3995499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部署時的安全設定疏忽,讓整個系統暴露在風險中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851" y="561856"/>
            <a:ext cx="5711071" cy="633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階段一:登入畫面與資料庫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9851" y="1276707"/>
            <a:ext cx="4975503" cy="50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守住第一道門:SQL Injection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09851" y="2290643"/>
            <a:ext cx="3042523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❌</a:t>
            </a:r>
            <a:r>
              <a:rPr lang="en-US" sz="2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小白的危險寫法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709851" y="2906554"/>
            <a:ext cx="6357938" cy="1277779"/>
          </a:xfrm>
          <a:prstGeom prst="roundRect">
            <a:avLst>
              <a:gd name="adj" fmla="val 2381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99730" y="2906554"/>
            <a:ext cx="6378178" cy="1277779"/>
          </a:xfrm>
          <a:prstGeom prst="roundRect">
            <a:avLst>
              <a:gd name="adj" fmla="val 2381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02494" y="3058597"/>
            <a:ext cx="5972651" cy="973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</a:t>
            </a:r>
            <a:endParaRPr lang="en-US" sz="15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'" + input + "' </a:t>
            </a:r>
            <a:endParaRPr lang="en-US" sz="15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 password = '" + pass + "'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9851" y="4412456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攻擊情境: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9851" y="4919543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駭客輸入帳號: </a:t>
            </a: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 OR '1'='1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09851" y="5426631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結果 SQL 變成: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09851" y="5979319"/>
            <a:ext cx="6357938" cy="953214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99730" y="5979319"/>
            <a:ext cx="6378178" cy="953214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02494" y="6131362"/>
            <a:ext cx="597265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</a:t>
            </a:r>
            <a:endParaRPr lang="en-US" sz="15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= '' OR '1'='1'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9851" y="7160657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永遠返回 True,</a:t>
            </a:r>
            <a:r>
              <a:rPr lang="en-US" sz="1550" dirty="0">
                <a:solidFill>
                  <a:srgbClr val="4A4A45"/>
                </a:solidFill>
                <a:highlight>
                  <a:srgbClr val="FF6B6B"/>
                </a:highlight>
                <a:latin typeface="Lato" pitchFamily="34" charset="0"/>
                <a:ea typeface="Lato" pitchFamily="34" charset="-122"/>
                <a:cs typeface="Lato" pitchFamily="34" charset="-120"/>
              </a:rPr>
              <a:t>成功繞過驗證!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70232" y="2290643"/>
            <a:ext cx="3042523" cy="38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✅</a:t>
            </a:r>
            <a:r>
              <a:rPr lang="en-US" sz="2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正確的防禦策略</a:t>
            </a:r>
            <a:endParaRPr lang="en-US" sz="2350" dirty="0"/>
          </a:p>
        </p:txBody>
      </p:sp>
      <p:sp>
        <p:nvSpPr>
          <p:cNvPr id="16" name="Shape 14"/>
          <p:cNvSpPr/>
          <p:nvPr/>
        </p:nvSpPr>
        <p:spPr>
          <a:xfrm>
            <a:off x="7570232" y="2906554"/>
            <a:ext cx="6357938" cy="1602343"/>
          </a:xfrm>
          <a:prstGeom prst="roundRect">
            <a:avLst>
              <a:gd name="adj" fmla="val 1899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560112" y="2906554"/>
            <a:ext cx="6378178" cy="1602343"/>
          </a:xfrm>
          <a:prstGeom prst="roundRect">
            <a:avLst>
              <a:gd name="adj" fmla="val 1899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762875" y="3058597"/>
            <a:ext cx="5972651" cy="1298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 query = </a:t>
            </a:r>
            <a:endParaRPr lang="en-US" sz="15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'SELECT * FROM users </a:t>
            </a:r>
            <a:endParaRPr lang="en-US" sz="15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WHERE name = ? AND password = ?';</a:t>
            </a:r>
            <a:endParaRPr lang="en-US" sz="1550" dirty="0"/>
          </a:p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db.execute(query, [input, pass]);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70232" y="4737021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為什麼安全?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70232" y="5244108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</a:t>
            </a: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參數化查詢</a:t>
            </a: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(Parameterized Queries)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570232" y="5639633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資料庫會自動處理特殊字元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70232" y="6035159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輸入的內容被視為「資料」而非「指令」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70232" y="6430685"/>
            <a:ext cx="6357938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無論輸入什麼,都無法改變 SQL 結構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626" y="492323"/>
            <a:ext cx="5489377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階段三:登入成功與狀態維持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6626" y="1123236"/>
            <a:ext cx="6085165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正確的 Session 管理:拒絕 LocalStorage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6626" y="1839397"/>
            <a:ext cx="13377148" cy="760571"/>
          </a:xfrm>
          <a:prstGeom prst="roundRect">
            <a:avLst>
              <a:gd name="adj" fmla="val 3531"/>
            </a:avLst>
          </a:prstGeom>
          <a:solidFill>
            <a:srgbClr val="DBDBD7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77" y="2112050"/>
            <a:ext cx="223718" cy="1789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8246" y="2062996"/>
            <a:ext cx="12616577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觀念導正:</a:t>
            </a:r>
            <a:r>
              <a:rPr lang="en-US" sz="14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即使現代前端框架已降低 XSS 渲染風險,但將 Token 存於 LocalStorage 仍是危險的!一旦發生 XSS,資料將被輕易竊取。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6626" y="2868454"/>
            <a:ext cx="288333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安全的 Session 機制流程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303770" y="3472696"/>
            <a:ext cx="22860" cy="4265533"/>
          </a:xfrm>
          <a:prstGeom prst="roundRect">
            <a:avLst>
              <a:gd name="adj" fmla="val 117481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6599575" y="3662601"/>
            <a:ext cx="537091" cy="22860"/>
          </a:xfrm>
          <a:prstGeom prst="roundRect">
            <a:avLst>
              <a:gd name="adj" fmla="val 117481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7113806" y="3472696"/>
            <a:ext cx="402788" cy="402788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4182189" y="3534132"/>
            <a:ext cx="223789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1. Login 登入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6626" y="3921323"/>
            <a:ext cx="579346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使用者輸入帳號密碼送出表單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93734" y="4736783"/>
            <a:ext cx="537091" cy="22860"/>
          </a:xfrm>
          <a:prstGeom prst="roundRect">
            <a:avLst>
              <a:gd name="adj" fmla="val 117481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7113806" y="4546878"/>
            <a:ext cx="402788" cy="402788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8210312" y="4608314"/>
            <a:ext cx="223789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2. Session Creation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210312" y="4995505"/>
            <a:ext cx="5793462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後端驗證成功後,在伺服器建立 Session 記錄 (儲存 user_id, vip_level 等資訊),並產生隨機的 Session ID: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XYZ789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99575" y="5662613"/>
            <a:ext cx="537091" cy="22860"/>
          </a:xfrm>
          <a:prstGeom prst="roundRect">
            <a:avLst>
              <a:gd name="adj" fmla="val 117481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5"/>
          <p:cNvSpPr/>
          <p:nvPr/>
        </p:nvSpPr>
        <p:spPr>
          <a:xfrm>
            <a:off x="7113806" y="5472708"/>
            <a:ext cx="402788" cy="402788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4182189" y="5534144"/>
            <a:ext cx="2237899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3. HttpOnly Cookie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26626" y="5921335"/>
            <a:ext cx="579346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後端將 </a:t>
            </a: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sessionId=XYZ789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設定為 </a:t>
            </a: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HttpOnly Cookie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回傳給瀏覽器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626" y="6409134"/>
            <a:ext cx="5793462" cy="841296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9"/>
          <p:cNvSpPr/>
          <p:nvPr/>
        </p:nvSpPr>
        <p:spPr>
          <a:xfrm>
            <a:off x="617696" y="6409134"/>
            <a:ext cx="5811322" cy="841296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796647" y="6543318"/>
            <a:ext cx="5453420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Set-Cookie: sessionId=XYZ789; </a:t>
            </a:r>
            <a:endParaRPr lang="en-US" sz="1400" dirty="0"/>
          </a:p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HttpOnly; Secure; SameSite=Strict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6626" y="7451765"/>
            <a:ext cx="579346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4ECDC4"/>
                </a:highlight>
                <a:latin typeface="Lato" pitchFamily="34" charset="0"/>
                <a:ea typeface="Lato" pitchFamily="34" charset="-122"/>
                <a:cs typeface="Lato" pitchFamily="34" charset="-120"/>
              </a:rPr>
              <a:t>JavaScript 完全無法讀取,有效防止 XSS 竊取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0098"/>
            <a:ext cx="7603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階段三(續):Session 驗證與請求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942505"/>
            <a:ext cx="30480" cy="3253264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10087" y="2182416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060049" y="194250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345894" y="20203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4. Clean Request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2510790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使用者點擊「查看餘額」時，瀏覽器自動帶上 Cookie，網址保持乾淨: /balance。前端完全不需要(也無法)處理 Session ID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39871" y="3543300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CBC5B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060049" y="330338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449270" y="33812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5. Validation 驗證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49270" y="3871674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後端根據 Cookie 內的 XYZ789 查詢 Session 資料庫，確認使用者身分與權限後，回傳對應的 HTML 頁面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56426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2565916" y="6596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後端掌控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708648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Session 資料完全由伺服器管理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56884" y="556426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0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9229130" y="6596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前端儲存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56884" y="708648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不在 LocalStorage 或前端儲存任何敏感資訊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817" y="493990"/>
            <a:ext cx="5051227" cy="56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階段四:開啟新分頁與操作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27817" y="1126212"/>
            <a:ext cx="4792028" cy="44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危險的參數傳遞:URL 裡的秘密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7817" y="1843683"/>
            <a:ext cx="1337476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接續前一階段的 Session 機制,當使用者開啟新分頁進行操作時,許多新手開發者會犯下致命錯誤...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7817" y="2511862"/>
            <a:ext cx="269081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❌</a:t>
            </a: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小白的危險寫法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17" y="3057644"/>
            <a:ext cx="6468547" cy="556141"/>
          </a:xfrm>
          <a:prstGeom prst="roundRect">
            <a:avLst>
              <a:gd name="adj" fmla="val 4838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618887" y="3057644"/>
            <a:ext cx="6486406" cy="556141"/>
          </a:xfrm>
          <a:prstGeom prst="roundRect">
            <a:avLst>
              <a:gd name="adj" fmla="val 4838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98195" y="3192185"/>
            <a:ext cx="612779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site.com/balance?user=admin&amp;level=vip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817" y="3815596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為什麼這樣寫?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7817" y="4264104"/>
            <a:ext cx="6468547" cy="57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因為不理解 Slide 7 的 Session 機制,誤以為要把使用者資料「帶著走」,所以塞進網址裡。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7817" y="4999673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攻擊後果: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7817" y="5448181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highlight>
                  <a:srgbClr val="FF6B6B"/>
                </a:highlight>
                <a:latin typeface="Lato" pitchFamily="34" charset="0"/>
                <a:ea typeface="Lato" pitchFamily="34" charset="-122"/>
                <a:cs typeface="Lato" pitchFamily="34" charset="-120"/>
              </a:rPr>
              <a:t>修改 URL 參數即可偷看他人資料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(IDOR 漏洞)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7817" y="5797987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參數會留在</a:t>
            </a: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瀏覽器歷史紀錄</a:t>
            </a: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817" y="6147792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透過 Referer 標頭洩漏給第三方網站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817" y="6497598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可能被分享連結時不慎外洩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1657" y="2511862"/>
            <a:ext cx="2690812" cy="343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✅</a:t>
            </a:r>
            <a:r>
              <a:rPr lang="en-US" sz="21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正確的防禦策略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541657" y="3057644"/>
            <a:ext cx="6468547" cy="2278499"/>
          </a:xfrm>
          <a:prstGeom prst="roundRect">
            <a:avLst>
              <a:gd name="adj" fmla="val 1181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532727" y="3057644"/>
            <a:ext cx="6486406" cy="2278499"/>
          </a:xfrm>
          <a:prstGeom prst="roundRect">
            <a:avLst>
              <a:gd name="adj" fmla="val 1181"/>
            </a:avLst>
          </a:prstGeom>
          <a:solidFill>
            <a:srgbClr val="E2DF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712035" y="3192185"/>
            <a:ext cx="6127790" cy="200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site.com/balance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 後端驗證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getSession(cookie.sessionId);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(session.userId != requestedUser) {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"權限不足";</a:t>
            </a:r>
            <a:endParaRPr lang="en-US" sz="14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1657" y="5537954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安全原則: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41657" y="5986463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拒絕在 URL 傳遞敏感個資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1657" y="6336268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利用 Session 機制自動識別使用者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41657" y="6686074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後端驗證 Session ID 與權限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1657" y="7035879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永遠不要輕信前端參數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41657" y="7385685"/>
            <a:ext cx="6468547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所有權限檢查都在伺服器端進行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892"/>
            <a:ext cx="9430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階段五：網站上架與部署 (A05 &amp; A02)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32397"/>
            <a:ext cx="732651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上線前的最後防線：HTTPS 與 CORS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9395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情境： 網站正式對外開放，前後端分離架構。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557587"/>
            <a:ext cx="4196358" cy="3439001"/>
          </a:xfrm>
          <a:prstGeom prst="roundRect">
            <a:avLst>
              <a:gd name="adj" fmla="val 989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20604" y="378440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971449"/>
            <a:ext cx="306110" cy="306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0604" y="4691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風險 1：傳輸裸奔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518207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情境：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HTTP 明文傳輸，敏感資料易遭竊聽。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0604" y="604397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解法：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全站強制 HTTPS，確保資料加密傳輸。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3557587"/>
            <a:ext cx="4196358" cy="3439001"/>
          </a:xfrm>
          <a:prstGeom prst="roundRect">
            <a:avLst>
              <a:gd name="adj" fmla="val 989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5443776" y="378440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971449"/>
            <a:ext cx="306110" cy="306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3776" y="4691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風險 2：CORS 濫用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43776" y="518207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情境：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開發時設定 </a:t>
            </a: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Allow-Origin: *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，可能被惡意網站利用。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443776" y="604397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解法：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設定白名單 (White-list) 網域，限制跨域存取。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9640133" y="3557587"/>
            <a:ext cx="4196358" cy="3439001"/>
          </a:xfrm>
          <a:prstGeom prst="roundRect">
            <a:avLst>
              <a:gd name="adj" fmla="val 989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4"/>
          <p:cNvSpPr/>
          <p:nvPr/>
        </p:nvSpPr>
        <p:spPr>
          <a:xfrm>
            <a:off x="9866948" y="378440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971449"/>
            <a:ext cx="306110" cy="3061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66948" y="4691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風險 3：介面被盜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866948" y="518207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情境：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點擊劫持 (Clickjacking) 誘導使用者點擊惡意內容。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9866948" y="604397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解法：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設定 </a:t>
            </a: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X-Frame-Options: DENY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，禁止網站被嵌入框架。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79156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開發者的資安自檢表 (Checklist)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2764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資料庫：所有 SQL 查詢都使用參數化了嗎？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1053565" y="3698081"/>
            <a:ext cx="226814" cy="226814"/>
          </a:xfrm>
          <a:prstGeom prst="roundRect">
            <a:avLst>
              <a:gd name="adj" fmla="val 15001"/>
            </a:avLst>
          </a:prstGeom>
          <a:noFill/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142764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驗證：有實作登入錯誤次數限制嗎？錯誤訊息是否模糊化？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1053565" y="4140279"/>
            <a:ext cx="226814" cy="226814"/>
          </a:xfrm>
          <a:prstGeom prst="roundRect">
            <a:avLst>
              <a:gd name="adj" fmla="val 15001"/>
            </a:avLst>
          </a:prstGeom>
          <a:noFill/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2764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Session：Token/Session ID 是否存在 HttpOnly &amp; Secure Cookie？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1053565" y="4582478"/>
            <a:ext cx="226814" cy="226814"/>
          </a:xfrm>
          <a:prstGeom prst="roundRect">
            <a:avLst>
              <a:gd name="adj" fmla="val 15001"/>
            </a:avLst>
          </a:prstGeom>
          <a:noFill/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42764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傳輸：網址列是否乾淨（無個資）？全站是否啟用 HTTPS？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1053565" y="5024676"/>
            <a:ext cx="226814" cy="226814"/>
          </a:xfrm>
          <a:prstGeom prst="roundRect">
            <a:avLst>
              <a:gd name="adj" fmla="val 15001"/>
            </a:avLst>
          </a:prstGeom>
          <a:noFill/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42764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配置：CORS 是否已鎖定特定網域？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53565" y="5466874"/>
            <a:ext cx="226814" cy="226814"/>
          </a:xfrm>
          <a:prstGeom prst="roundRect">
            <a:avLst>
              <a:gd name="adj" fmla="val 15001"/>
            </a:avLst>
          </a:prstGeom>
          <a:noFill/>
          <a:ln w="22860">
            <a:solidFill>
              <a:srgbClr val="2828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877</Words>
  <Application>Microsoft Office PowerPoint</Application>
  <PresentationFormat>自訂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Arial</vt:lpstr>
      <vt:lpstr>Consolas</vt:lpstr>
      <vt:lpstr>Lato</vt:lpstr>
      <vt:lpstr>Lato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黃暄惠</cp:lastModifiedBy>
  <cp:revision>2</cp:revision>
  <dcterms:created xsi:type="dcterms:W3CDTF">2025-12-09T05:51:11Z</dcterms:created>
  <dcterms:modified xsi:type="dcterms:W3CDTF">2025-12-09T06:29:52Z</dcterms:modified>
</cp:coreProperties>
</file>